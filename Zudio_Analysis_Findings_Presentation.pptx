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3" d="100"/>
          <a:sy n="63" d="100"/>
        </p:scale>
        <p:origin x="78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ln w="31750" cap="flat">
              <a:solidFill>
                <a:srgbClr val="D41B2C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D41B2C"/>
              </a:solidFill>
              <a:ln w="9525" cap="flat">
                <a:solidFill>
                  <a:srgbClr val="D41B2C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57.6</c:v>
                </c:pt>
                <c:pt idx="1">
                  <c:v>54.4</c:v>
                </c:pt>
                <c:pt idx="2">
                  <c:v>56.5</c:v>
                </c:pt>
                <c:pt idx="3">
                  <c:v>56.6</c:v>
                </c:pt>
                <c:pt idx="4">
                  <c:v>56.1</c:v>
                </c:pt>
                <c:pt idx="5">
                  <c:v>54.3</c:v>
                </c:pt>
                <c:pt idx="6">
                  <c:v>55.3</c:v>
                </c:pt>
                <c:pt idx="7">
                  <c:v>58</c:v>
                </c:pt>
                <c:pt idx="8">
                  <c:v>54.3</c:v>
                </c:pt>
                <c:pt idx="9">
                  <c:v>59.3</c:v>
                </c:pt>
                <c:pt idx="10">
                  <c:v>57.8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6B7-42FA-A661-519D6D9A49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2514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9525" cap="flat">
              <a:solidFill>
                <a:srgbClr val="E5E3DF"/>
              </a:solidFill>
              <a:prstDash val="solid"/>
              <a:round/>
            </a:ln>
          </c:spPr>
        </c:majorGridlines>
        <c:numFmt formatCode="&quot;₹&quot;0&quot; L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9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D41B2C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5151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Shoes</c:v>
                </c:pt>
                <c:pt idx="1">
                  <c:v>Jeans</c:v>
                </c:pt>
                <c:pt idx="2">
                  <c:v>Tops</c:v>
                </c:pt>
                <c:pt idx="3">
                  <c:v>T-shirts</c:v>
                </c:pt>
                <c:pt idx="4">
                  <c:v>Hoodies</c:v>
                </c:pt>
                <c:pt idx="5">
                  <c:v>Shirts</c:v>
                </c:pt>
                <c:pt idx="6">
                  <c:v>Jackets</c:v>
                </c:pt>
                <c:pt idx="7">
                  <c:v>Sweaters</c:v>
                </c:pt>
                <c:pt idx="8">
                  <c:v>Pants</c:v>
                </c:pt>
                <c:pt idx="9">
                  <c:v>Skirts</c:v>
                </c:pt>
                <c:pt idx="10">
                  <c:v>Dresses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53.6</c:v>
                </c:pt>
                <c:pt idx="1">
                  <c:v>55</c:v>
                </c:pt>
                <c:pt idx="2">
                  <c:v>55.2</c:v>
                </c:pt>
                <c:pt idx="3">
                  <c:v>57</c:v>
                </c:pt>
                <c:pt idx="4">
                  <c:v>57.3</c:v>
                </c:pt>
                <c:pt idx="5">
                  <c:v>57.4</c:v>
                </c:pt>
                <c:pt idx="6">
                  <c:v>57.6</c:v>
                </c:pt>
                <c:pt idx="7">
                  <c:v>57.9</c:v>
                </c:pt>
                <c:pt idx="8">
                  <c:v>57.9</c:v>
                </c:pt>
                <c:pt idx="9">
                  <c:v>58</c:v>
                </c:pt>
                <c:pt idx="10">
                  <c:v>59.3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9F-4C72-BE62-97A5F7BDAEA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2514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b"/>
        <c:majorGridlines>
          <c:spPr>
            <a:ln w="9525" cap="flat">
              <a:solidFill>
                <a:srgbClr val="E5E3DF"/>
              </a:solidFill>
              <a:prstDash val="solid"/>
              <a:round/>
            </a:ln>
          </c:spPr>
        </c:majorGridlines>
        <c:numFmt formatCode="0&quot;L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9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3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rgbClr val="D41B2C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5151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Value  &lt;₹1K</c:v>
                </c:pt>
                <c:pt idx="1">
                  <c:v>Core  ₹1–2K</c:v>
                </c:pt>
                <c:pt idx="2">
                  <c:v>Premium  ₹2K+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8.3000000000000007</c:v>
                </c:pt>
                <c:pt idx="1">
                  <c:v>34</c:v>
                </c:pt>
                <c:pt idx="2">
                  <c:v>57.7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CD-4BEF-B50F-7FF389F56A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Transaction share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5151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Value  &lt;₹1K</c:v>
                </c:pt>
                <c:pt idx="1">
                  <c:v>Core  ₹1–2K</c:v>
                </c:pt>
                <c:pt idx="2">
                  <c:v>Premium  ₹2K+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19.600000000000001</c:v>
                </c:pt>
                <c:pt idx="1">
                  <c:v>39.200000000000003</c:v>
                </c:pt>
                <c:pt idx="2">
                  <c:v>41.2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DCD-4BEF-B50F-7FF389F56A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2514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9525" cap="flat">
              <a:solidFill>
                <a:srgbClr val="E5E3D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9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
              <a:solidFill>
                <a:srgbClr val="52514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8A8985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5151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12.5</c:v>
                </c:pt>
                <c:pt idx="1">
                  <c:v>12</c:v>
                </c:pt>
                <c:pt idx="2">
                  <c:v>12.4</c:v>
                </c:pt>
                <c:pt idx="3">
                  <c:v>12.8</c:v>
                </c:pt>
                <c:pt idx="4">
                  <c:v>12.7</c:v>
                </c:pt>
                <c:pt idx="5">
                  <c:v>12.5</c:v>
                </c:pt>
                <c:pt idx="6">
                  <c:v>12.2</c:v>
                </c:pt>
                <c:pt idx="7">
                  <c:v>12.9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C8-4E5F-A984-DBF6258E40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2514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9525" cap="flat">
              <a:solidFill>
                <a:srgbClr val="E5E3D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9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D41B2C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5151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Karnataka</c:v>
                </c:pt>
                <c:pt idx="1">
                  <c:v>Gujarat</c:v>
                </c:pt>
                <c:pt idx="2">
                  <c:v>Tamil Nadu</c:v>
                </c:pt>
                <c:pt idx="3">
                  <c:v>Maharashtra</c:v>
                </c:pt>
                <c:pt idx="4">
                  <c:v>Uttar Pradesh</c:v>
                </c:pt>
                <c:pt idx="5">
                  <c:v>Rajasthan</c:v>
                </c:pt>
                <c:pt idx="6">
                  <c:v>Delhi</c:v>
                </c:pt>
                <c:pt idx="7">
                  <c:v>West Bengal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75.900000000000006</c:v>
                </c:pt>
                <c:pt idx="1">
                  <c:v>76.3</c:v>
                </c:pt>
                <c:pt idx="2">
                  <c:v>77.099999999999994</c:v>
                </c:pt>
                <c:pt idx="3">
                  <c:v>77.2</c:v>
                </c:pt>
                <c:pt idx="4">
                  <c:v>79.099999999999994</c:v>
                </c:pt>
                <c:pt idx="5">
                  <c:v>79.7</c:v>
                </c:pt>
                <c:pt idx="6">
                  <c:v>79.8</c:v>
                </c:pt>
                <c:pt idx="7">
                  <c:v>81.099999999999994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98-4794-AABB-B59999A503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2514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9525" cap="flat">
              <a:solidFill>
                <a:srgbClr val="E5E3DF"/>
              </a:solidFill>
              <a:prstDash val="solid"/>
              <a:round/>
            </a:ln>
          </c:spPr>
        </c:majorGridlines>
        <c:numFmt formatCode="0&quot;L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9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2031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Findings-focused readout of the Zudio product performance and profitability analysis. Covers objective, data, method, KPIs, findings, insights and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objective and the five business questions the analysis is built to answer, plus the four decisions the output should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 shape, the field groups used in the model, and the preparation decisions that affect how the numbers should be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tool groups: Python for the analysis, Power BI for the model and dashboard, the environment, and the artefacts 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six-stage method. Stages one to three are Python; four to six move into Power BI and the written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KPI framework. Each measure has a formula and a stated decision use, so the dashboard numbers are traceable.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KPI results plus supporting measures. The monthly line shows a stable run-rate of about 56 lakh.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Category and clothing-type performance. Kids leads categories, Dresses leads the merchandise mix, and Sweaters carries the highest average order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Price band is where the sharpest differences appear. Premium delivers most of the revenue; the entry band delivers volume. Basket depth is consistent at about 4.5 units.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Regional contribution and store format. West Bengal leads states, Jalna leads cities, and compact stores post the highest average order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insights synthesised from the findings. The dominant one is that price architecture, not product category, is what moves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recommendations. The first four are commercial actions from the findings; the fifth is operational; the sixth unlocks the profitability analysis the brief asks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7C0D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4206240"/>
            <a:ext cx="2560320" cy="2560320"/>
          </a:xfrm>
          <a:prstGeom prst="ellipse">
            <a:avLst/>
          </a:prstGeom>
          <a:solidFill>
            <a:srgbClr val="D41B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20" dirty="0">
                <a:solidFill>
                  <a:srgbClr val="FB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ZUDIO  ·  SALES &amp; REVENUE ANALYTICS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9344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4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Zudio</a:t>
            </a:r>
            <a:r>
              <a:rPr lang="en-US" sz="4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Product </a:t>
            </a: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44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Profitability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747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findings and business recommendations from 7,899 retail transactions across 8 states and 42 cities.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9028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100" b="1" dirty="0">
                <a:solidFill>
                  <a:srgbClr val="FBD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₹6.26 Cr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04748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8A8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761488" y="459028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100" b="1" dirty="0">
                <a:solidFill>
                  <a:srgbClr val="FBD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₹2.50 Cr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2761488" y="504748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8A8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974336" y="459028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100" b="1" dirty="0">
                <a:solidFill>
                  <a:srgbClr val="FBD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35,699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4974336" y="504748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8A8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187184" y="459028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100" b="1" dirty="0">
                <a:solidFill>
                  <a:srgbClr val="FBD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₹7,927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7187184" y="504748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8A8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05332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Pragya Prasad &amp; Aman Jeet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objective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analysis set out to answer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1064240" cy="1060704"/>
          </a:xfrm>
          <a:prstGeom prst="roundRect">
            <a:avLst>
              <a:gd name="adj" fmla="val 5172"/>
            </a:avLst>
          </a:prstGeom>
          <a:solidFill>
            <a:srgbClr val="FFF3F4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59536" y="1883664"/>
            <a:ext cx="10442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Zudio's product range, pricing and store network drive sales and profit — and turn that understanding into decisions on assortment, price architecture and regional investment.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8A8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THE ANALYSIS ANSWERS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6928" y="3319272"/>
            <a:ext cx="146304" cy="146304"/>
          </a:xfrm>
          <a:prstGeom prst="ellipse">
            <a:avLst/>
          </a:prstGeom>
          <a:solidFill>
            <a:srgbClr val="D41B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7824" y="3255264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and categories generate the most revenue and profit?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D41B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77824" y="378561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price point influence basket value and revenue mix?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4379976"/>
            <a:ext cx="146304" cy="146304"/>
          </a:xfrm>
          <a:prstGeom prst="ellipse">
            <a:avLst/>
          </a:prstGeom>
          <a:solidFill>
            <a:srgbClr val="D41B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7824" y="431596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states and cities contribute most to the business?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4910328"/>
            <a:ext cx="146304" cy="146304"/>
          </a:xfrm>
          <a:prstGeom prst="ellipse">
            <a:avLst/>
          </a:prstGeom>
          <a:solidFill>
            <a:srgbClr val="D41B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7824" y="484632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store format — size, ownership, hours — affect performance?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5440680"/>
            <a:ext cx="146304" cy="146304"/>
          </a:xfrm>
          <a:prstGeom prst="ellipse">
            <a:avLst/>
          </a:prstGeom>
          <a:solidFill>
            <a:srgbClr val="D41B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77824" y="5376672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demand move across the year?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926080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8A8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BUSINESS OUTCOMES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537960" y="3236976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F6F5F3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11696" y="3429000"/>
            <a:ext cx="164592" cy="164592"/>
          </a:xfrm>
          <a:prstGeom prst="ellipse">
            <a:avLst/>
          </a:prstGeom>
          <a:solidFill>
            <a:srgbClr val="2A78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04304" y="33741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Assortment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3374136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to expand, hold or rationalise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37960" y="3895344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F6F5F3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11696" y="4087368"/>
            <a:ext cx="164592" cy="164592"/>
          </a:xfrm>
          <a:prstGeom prst="ellipse">
            <a:avLst/>
          </a:prstGeom>
          <a:solidFill>
            <a:srgbClr val="D41B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04304" y="40325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412480" y="4032504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the range across value, core and premium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37960" y="4553712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F6F5F3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11696" y="4745736"/>
            <a:ext cx="164592" cy="164592"/>
          </a:xfrm>
          <a:prstGeom prst="ellipse">
            <a:avLst/>
          </a:prstGeom>
          <a:solidFill>
            <a:srgbClr val="1BAF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004304" y="4690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412480" y="469087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new-store and inventory investment by region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537960" y="5212080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F6F5F3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11696" y="5404104"/>
            <a:ext cx="164592" cy="164592"/>
          </a:xfrm>
          <a:prstGeom prst="ellipse">
            <a:avLst/>
          </a:prstGeom>
          <a:solidFill>
            <a:srgbClr val="EDA1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004304" y="5349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534924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whether format choices earn their cost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details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Zudio_Cleaned_Sales_Data.csv — one row per transaction line item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4261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755648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D4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7,899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57984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60" dirty="0">
                <a:solidFill>
                  <a:srgbClr val="8A8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55848" y="1645920"/>
            <a:ext cx="264261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93008" y="1755648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D4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3493008" y="2157984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60" dirty="0">
                <a:solidFill>
                  <a:srgbClr val="8A8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63056" y="1645920"/>
            <a:ext cx="264261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00216" y="1755648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4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Jan–Dec 2024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00216" y="2157984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60" dirty="0">
                <a:solidFill>
                  <a:srgbClr val="8A8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970264" y="1645920"/>
            <a:ext cx="264261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07424" y="1755648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D4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9107424" y="2157984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60" dirty="0">
                <a:solidFill>
                  <a:srgbClr val="8A8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688336"/>
            <a:ext cx="264261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5800" y="2798064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D4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200400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60" dirty="0">
                <a:solidFill>
                  <a:srgbClr val="8A8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55848" y="2688336"/>
            <a:ext cx="264261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493008" y="2798064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D4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3493008" y="3200400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60" dirty="0">
                <a:solidFill>
                  <a:srgbClr val="8A8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RECORDS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63056" y="2688336"/>
            <a:ext cx="264261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300216" y="2798064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D4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6300216" y="3200400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60" dirty="0">
                <a:solidFill>
                  <a:srgbClr val="8A8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970264" y="2688336"/>
            <a:ext cx="264261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107424" y="2798064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D4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9107424" y="3200400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60" dirty="0">
                <a:solidFill>
                  <a:srgbClr val="8A8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TYPES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3858768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8A8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GROUPS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6928" y="4261104"/>
            <a:ext cx="146304" cy="146304"/>
          </a:xfrm>
          <a:prstGeom prst="ellipse">
            <a:avLst/>
          </a:prstGeom>
          <a:solidFill>
            <a:srgbClr val="D41B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59536" y="418795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2121408" y="41879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ID, Order Date, Customer ID, Quantity, Price, Sales, Sales Profit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6928" y="4809744"/>
            <a:ext cx="146304" cy="14630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59536" y="47365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2121408" y="473659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Clothing Type, Product ID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66928" y="5358384"/>
            <a:ext cx="146304" cy="146304"/>
          </a:xfrm>
          <a:prstGeom prst="ellipse">
            <a:avLst/>
          </a:prstGeom>
          <a:solidFill>
            <a:srgbClr val="1BAF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59536" y="52852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2121408" y="528523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Country, State, City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66928" y="5907024"/>
            <a:ext cx="146304" cy="146304"/>
          </a:xfrm>
          <a:prstGeom prst="ellipse">
            <a:avLst/>
          </a:prstGeom>
          <a:solidFill>
            <a:srgbClr val="EDA1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59536" y="583387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2121408" y="583387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Type, Selling Area (sq ft), Staff Count, Operating Hours, Parking, Security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6537960" y="3858768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8A8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NOTES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537960" y="4151376"/>
            <a:ext cx="5074920" cy="2139696"/>
          </a:xfrm>
          <a:prstGeom prst="roundRect">
            <a:avLst>
              <a:gd name="adj" fmla="val 2564"/>
            </a:avLst>
          </a:prstGeom>
          <a:solidFill>
            <a:srgbClr val="F6F5F3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6784848" y="433425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7973568" y="4334256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= one line item. Order ID repeats 340 times, so transactions are counted as rows.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6784848" y="48280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fields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7973568" y="4828032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band, store-size band, staff band and store age added in Power Query.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6784848" y="53218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7973568" y="5321808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stops on the 3rd (84 orders), so it is excluded from monthly averages.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6784848" y="581558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7973568" y="5815584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in the analysed fields; all types coerced explicitly.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technologies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analysis, Power BI for the delivered dashboard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00784"/>
            <a:ext cx="2601468" cy="4041648"/>
          </a:xfrm>
          <a:prstGeom prst="roundRect">
            <a:avLst>
              <a:gd name="adj" fmla="val 2109"/>
            </a:avLst>
          </a:prstGeom>
          <a:solidFill>
            <a:srgbClr val="FFFFFF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938528"/>
            <a:ext cx="402336" cy="402336"/>
          </a:xfrm>
          <a:prstGeom prst="ellipse">
            <a:avLst/>
          </a:prstGeom>
          <a:solidFill>
            <a:srgbClr val="D41B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938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487168"/>
            <a:ext cx="2125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798064"/>
            <a:ext cx="21259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EDA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04672" y="3328416"/>
            <a:ext cx="82296" cy="82296"/>
          </a:xfrm>
          <a:prstGeom prst="ellipse">
            <a:avLst/>
          </a:prstGeom>
          <a:solidFill>
            <a:srgbClr val="D41B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24128" y="3218688"/>
            <a:ext cx="18882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— data handling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" y="3803904"/>
            <a:ext cx="82296" cy="82296"/>
          </a:xfrm>
          <a:prstGeom prst="ellipse">
            <a:avLst/>
          </a:prstGeom>
          <a:solidFill>
            <a:srgbClr val="D41B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24128" y="3694176"/>
            <a:ext cx="18882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— numeric operations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" y="4279392"/>
            <a:ext cx="82296" cy="82296"/>
          </a:xfrm>
          <a:prstGeom prst="ellipse">
            <a:avLst/>
          </a:prstGeom>
          <a:solidFill>
            <a:srgbClr val="D41B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24128" y="4169664"/>
            <a:ext cx="18882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— plotting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" y="4754880"/>
            <a:ext cx="82296" cy="82296"/>
          </a:xfrm>
          <a:prstGeom prst="ellipse">
            <a:avLst/>
          </a:prstGeom>
          <a:solidFill>
            <a:srgbClr val="D41B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24128" y="4645152"/>
            <a:ext cx="18882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— statistical charts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5120640"/>
            <a:ext cx="18882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69564" y="1700784"/>
            <a:ext cx="2601468" cy="4041648"/>
          </a:xfrm>
          <a:prstGeom prst="roundRect">
            <a:avLst>
              <a:gd name="adj" fmla="val 2109"/>
            </a:avLst>
          </a:prstGeom>
          <a:solidFill>
            <a:srgbClr val="FFFFFF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07308" y="1938528"/>
            <a:ext cx="402336" cy="40233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07308" y="1938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607308" y="2487168"/>
            <a:ext cx="2125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607308" y="2798064"/>
            <a:ext cx="21259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dashboard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25596" y="3328416"/>
            <a:ext cx="82296" cy="8229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845052" y="3218688"/>
            <a:ext cx="18882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(M) — transforms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25596" y="3803904"/>
            <a:ext cx="82296" cy="8229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845052" y="3694176"/>
            <a:ext cx="18882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05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&amp; cross-filtering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25596" y="4279392"/>
            <a:ext cx="82296" cy="8229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845052" y="4169664"/>
            <a:ext cx="18882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— 30 measures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25596" y="4754880"/>
            <a:ext cx="82296" cy="8229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845052" y="4645152"/>
            <a:ext cx="18882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design &amp; theming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90488" y="1700784"/>
            <a:ext cx="2601468" cy="4041648"/>
          </a:xfrm>
          <a:prstGeom prst="roundRect">
            <a:avLst>
              <a:gd name="adj" fmla="val 2109"/>
            </a:avLst>
          </a:prstGeom>
          <a:solidFill>
            <a:srgbClr val="FFFFFF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28232" y="1938528"/>
            <a:ext cx="402336" cy="402336"/>
          </a:xfrm>
          <a:prstGeom prst="ellipse">
            <a:avLst/>
          </a:prstGeom>
          <a:solidFill>
            <a:srgbClr val="1BAF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28232" y="1938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428232" y="2487168"/>
            <a:ext cx="2125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428232" y="2798064"/>
            <a:ext cx="21259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work ran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446520" y="3328416"/>
            <a:ext cx="82296" cy="82296"/>
          </a:xfrm>
          <a:prstGeom prst="ellipse">
            <a:avLst/>
          </a:prstGeom>
          <a:solidFill>
            <a:srgbClr val="1BAF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665976" y="3218688"/>
            <a:ext cx="18882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46520" y="3803904"/>
            <a:ext cx="82296" cy="82296"/>
          </a:xfrm>
          <a:prstGeom prst="ellipse">
            <a:avLst/>
          </a:prstGeom>
          <a:solidFill>
            <a:srgbClr val="1BAF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665976" y="3694176"/>
            <a:ext cx="18882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46520" y="4279392"/>
            <a:ext cx="82296" cy="82296"/>
          </a:xfrm>
          <a:prstGeom prst="ellipse">
            <a:avLst/>
          </a:prstGeom>
          <a:solidFill>
            <a:srgbClr val="1BAF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665976" y="4169664"/>
            <a:ext cx="18882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runtime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446520" y="4754880"/>
            <a:ext cx="82296" cy="82296"/>
          </a:xfrm>
          <a:prstGeom prst="ellipse">
            <a:avLst/>
          </a:prstGeom>
          <a:solidFill>
            <a:srgbClr val="1BAF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665976" y="4645152"/>
            <a:ext cx="18882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source extract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9011412" y="1700784"/>
            <a:ext cx="2601468" cy="4041648"/>
          </a:xfrm>
          <a:prstGeom prst="roundRect">
            <a:avLst>
              <a:gd name="adj" fmla="val 2109"/>
            </a:avLst>
          </a:prstGeom>
          <a:solidFill>
            <a:srgbClr val="FFFFFF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9249156" y="1938528"/>
            <a:ext cx="402336" cy="402336"/>
          </a:xfrm>
          <a:prstGeom prst="ellipse">
            <a:avLst/>
          </a:prstGeom>
          <a:solidFill>
            <a:srgbClr val="EDA1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249156" y="1938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52" name="Text 50"/>
          <p:cNvSpPr txBox="1"/>
          <p:nvPr/>
        </p:nvSpPr>
        <p:spPr>
          <a:xfrm>
            <a:off x="9249156" y="2487168"/>
            <a:ext cx="2125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Outputs</a:t>
            </a:r>
            <a:endParaRPr lang="en-US" sz="1600" dirty="0"/>
          </a:p>
        </p:txBody>
      </p:sp>
      <p:sp>
        <p:nvSpPr>
          <p:cNvPr id="53" name="Text 51"/>
          <p:cNvSpPr txBox="1"/>
          <p:nvPr/>
        </p:nvSpPr>
        <p:spPr>
          <a:xfrm>
            <a:off x="9249156" y="2798064"/>
            <a:ext cx="21259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produced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9267444" y="3328416"/>
            <a:ext cx="82296" cy="82296"/>
          </a:xfrm>
          <a:prstGeom prst="ellipse">
            <a:avLst/>
          </a:prstGeom>
          <a:solidFill>
            <a:srgbClr val="EDA1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486900" y="3218688"/>
            <a:ext cx="18882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.ipynb analysis notebook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9267444" y="3803904"/>
            <a:ext cx="82296" cy="82296"/>
          </a:xfrm>
          <a:prstGeom prst="ellipse">
            <a:avLst/>
          </a:prstGeom>
          <a:solidFill>
            <a:srgbClr val="EDA1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9486900" y="3694176"/>
            <a:ext cx="18882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.csv cleaned dataset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9267444" y="4279392"/>
            <a:ext cx="82296" cy="82296"/>
          </a:xfrm>
          <a:prstGeom prst="ellipse">
            <a:avLst/>
          </a:prstGeom>
          <a:solidFill>
            <a:srgbClr val="EDA1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486900" y="4169664"/>
            <a:ext cx="18882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.pbit model template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9267444" y="4754880"/>
            <a:ext cx="82296" cy="82296"/>
          </a:xfrm>
          <a:prstGeom prst="ellipse">
            <a:avLst/>
          </a:prstGeom>
          <a:solidFill>
            <a:srgbClr val="EDA1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486900" y="4645152"/>
            <a:ext cx="18882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.pbix dashboard file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performed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extract to findings, in six stages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3529584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956816"/>
            <a:ext cx="420624" cy="420624"/>
          </a:xfrm>
          <a:prstGeom prst="ellipse">
            <a:avLst/>
          </a:prstGeom>
          <a:solidFill>
            <a:srgbClr val="D41B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956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505456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852928"/>
            <a:ext cx="3054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the 7,899-row transaction extract and reviewed all 31 fields against the brief.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15968" y="1719072"/>
            <a:ext cx="3529584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53712" y="1956816"/>
            <a:ext cx="420624" cy="420624"/>
          </a:xfrm>
          <a:prstGeom prst="ellipse">
            <a:avLst/>
          </a:prstGeom>
          <a:solidFill>
            <a:srgbClr val="D41B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53712" y="1956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2505456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2852928"/>
            <a:ext cx="3054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Coerced types, parsed dates, checked nulls and duplicates, removed fields with no analytical use.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83296" y="1719072"/>
            <a:ext cx="3529584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1956816"/>
            <a:ext cx="420624" cy="420624"/>
          </a:xfrm>
          <a:prstGeom prst="ellipse">
            <a:avLst/>
          </a:prstGeom>
          <a:solidFill>
            <a:srgbClr val="D41B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1956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505456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analysis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852928"/>
            <a:ext cx="3054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Profiled distributions and cardinality; examined sales by product, price, geography, format and month.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529584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86384" y="4169664"/>
            <a:ext cx="420624" cy="420624"/>
          </a:xfrm>
          <a:prstGeom prst="ellipse">
            <a:avLst/>
          </a:prstGeom>
          <a:solidFill>
            <a:srgbClr val="D41B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" y="4169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" y="471830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definition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" y="5065776"/>
            <a:ext cx="3054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nine KPIs with explicit formulas and built them as 30 DAX measures over a star schema.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15968" y="3931920"/>
            <a:ext cx="3529584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53712" y="4169664"/>
            <a:ext cx="420624" cy="420624"/>
          </a:xfrm>
          <a:prstGeom prst="ellipse">
            <a:avLst/>
          </a:prstGeom>
          <a:solidFill>
            <a:srgbClr val="D41B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53712" y="4169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53712" y="471830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build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53712" y="5065776"/>
            <a:ext cx="3054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three-page Power BI report with slicers, cross-filtering and a branded theme.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83296" y="3931920"/>
            <a:ext cx="3529584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21040" y="4169664"/>
            <a:ext cx="420624" cy="420624"/>
          </a:xfrm>
          <a:prstGeom prst="ellipse">
            <a:avLst/>
          </a:prstGeom>
          <a:solidFill>
            <a:srgbClr val="D41B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21040" y="4169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471830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&amp; reporting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5065776"/>
            <a:ext cx="3054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segments, quantified contribution, and translated the results into recommendations.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framework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measures, each with an explicit formula and a decision it supports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00784"/>
          <a:ext cx="11064240" cy="42976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tells the business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1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1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SUM(Sales)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Top-line revenue generated in the period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1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SUM(Sales Profit)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 profit contributed by a segment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Margin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1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Gross Profit ÷ Total Sales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efficiently revenue converts to profit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 Sold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1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SUM(Quantity)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moved, independent of 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1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COUNTROWS(Sales)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often demand occurs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Order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1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Total Sales ÷ Transactions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of a typical basket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Selling 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1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Total Sales ÷ Units Sold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realised per unit sold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 per Transaction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1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Units Sold ÷ Transactions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 of the average basket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Contribution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1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Segment Sales ÷ Total Sales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revenue each segment carries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25449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nine are implemented as DAX measures in the Power BI model, with currency and percentage format strings applied.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results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Full-year 2024 performance across the network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7221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737360"/>
            <a:ext cx="144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D4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₹6.26 Cr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49424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60" dirty="0">
                <a:solidFill>
                  <a:srgbClr val="8A8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17064" y="1627632"/>
            <a:ext cx="17221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554224" y="1737360"/>
            <a:ext cx="144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D4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₹2.50 Cr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2554224" y="2249424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60" dirty="0">
                <a:solidFill>
                  <a:srgbClr val="8A8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85488" y="1627632"/>
            <a:ext cx="17221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422648" y="1737360"/>
            <a:ext cx="144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D4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40.0%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422648" y="2249424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60" dirty="0">
                <a:solidFill>
                  <a:srgbClr val="8A8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53912" y="1627632"/>
            <a:ext cx="17221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91072" y="1737360"/>
            <a:ext cx="144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D4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35,699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291072" y="2249424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60" dirty="0">
                <a:solidFill>
                  <a:srgbClr val="8A8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022336" y="1627632"/>
            <a:ext cx="17221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159496" y="1737360"/>
            <a:ext cx="144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D4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7,899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159496" y="2249424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60" dirty="0">
                <a:solidFill>
                  <a:srgbClr val="8A8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890760" y="1627632"/>
            <a:ext cx="17221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027920" y="1737360"/>
            <a:ext cx="144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D4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₹7,927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10027920" y="2249424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60" dirty="0">
                <a:solidFill>
                  <a:srgbClr val="8A8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28346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sales — complete months</a:t>
            </a:r>
            <a:endParaRPr lang="en-US" sz="14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475488" y="3127248"/>
          <a:ext cx="6858000" cy="2487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Text 21"/>
          <p:cNvSpPr txBox="1"/>
          <p:nvPr/>
        </p:nvSpPr>
        <p:spPr>
          <a:xfrm>
            <a:off x="548640" y="5705856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run between ₹54.3 L and ₹59.3 L a month, averaging ₹56.4 L. December is excluded — the extract stops on 3 December.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589520" y="2834640"/>
            <a:ext cx="4023360" cy="2779776"/>
          </a:xfrm>
          <a:prstGeom prst="roundRect">
            <a:avLst>
              <a:gd name="adj" fmla="val 1974"/>
            </a:avLst>
          </a:prstGeom>
          <a:solidFill>
            <a:srgbClr val="F6F5F3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7827264" y="29992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8A8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MEASURES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7827264" y="33467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selling price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10058400" y="3346704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D4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₹1,754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7827264" y="3767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per transaction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058400" y="3767328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D4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4.52</a:t>
            </a:r>
            <a:endParaRPr lang="en-US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7827264" y="4187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per unit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10058400" y="418795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D4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₹702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7827264" y="46085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10058400" y="4608576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D4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7,870</a:t>
            </a:r>
            <a:endParaRPr lang="en-US" sz="1350" dirty="0"/>
          </a:p>
        </p:txBody>
      </p:sp>
      <p:sp>
        <p:nvSpPr>
          <p:cNvPr id="35" name="Text 32"/>
          <p:cNvSpPr txBox="1"/>
          <p:nvPr/>
        </p:nvSpPr>
        <p:spPr>
          <a:xfrm>
            <a:off x="7827264" y="5029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listed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10058400" y="502920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D4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796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— product performance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revenue is distributed across categories and the merchandise mix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642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by clothing type (₹ lakh)</a:t>
            </a:r>
            <a:endParaRPr lang="en-US" sz="13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75488" y="1956816"/>
          <a:ext cx="59436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675120" y="166420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8A8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SPLIT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675120" y="1956816"/>
            <a:ext cx="1536192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803136" y="21214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₹2.11 Cr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803136" y="24688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803136" y="26883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8A8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33.7% of sales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357616" y="1956816"/>
            <a:ext cx="1536192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485632" y="21214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₹2.10 Cr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8485632" y="24688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8485632" y="26883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8A8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33.5% of sales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0040112" y="1956816"/>
            <a:ext cx="1536192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10168128" y="21214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₹2.05 Cr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10168128" y="24688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10168128" y="26883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8A8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32.8% of sales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675120" y="321868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8A8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SHOW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675120" y="3557016"/>
            <a:ext cx="310896" cy="310896"/>
          </a:xfrm>
          <a:prstGeom prst="ellipse">
            <a:avLst/>
          </a:prstGeom>
          <a:solidFill>
            <a:srgbClr val="D41B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675120" y="3557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132320" y="351129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is the largest category at ₹2.11 Cr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7132320" y="3776472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carries 33.7% of revenue, with Women at 33.5% and Men at 32.8% — a 0.9pp spread across the three.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675120" y="4434840"/>
            <a:ext cx="310896" cy="310896"/>
          </a:xfrm>
          <a:prstGeom prst="ellipse">
            <a:avLst/>
          </a:prstGeom>
          <a:solidFill>
            <a:srgbClr val="D41B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675120" y="4434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7132320" y="43891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Dresses leads the mix at ₹59.3 L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132320" y="4654296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Skirts (₹58.0 L) and Pants (₹57.9 L) follow. Shoes is smallest at ₹53.6 L — all eleven sit between 8.6% and 9.5%.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675120" y="5312664"/>
            <a:ext cx="310896" cy="310896"/>
          </a:xfrm>
          <a:prstGeom prst="ellipse">
            <a:avLst/>
          </a:prstGeom>
          <a:solidFill>
            <a:srgbClr val="D41B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675120" y="5312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7132320" y="52669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Sweaters earns the highest basket value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7132320" y="553212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of ₹8,268 against ₹7,651 for Tops and Shoes — a 8.1% gap between the extremes.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— price and basket economics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revenue concentrates across the price architecture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6420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share vs transaction share, by price band</a:t>
            </a:r>
            <a:endParaRPr lang="en-US" sz="13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75488" y="1956816"/>
          <a:ext cx="676656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35254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Basket size — share of transactions by units bought</a:t>
            </a:r>
            <a:endParaRPr lang="en-US" sz="13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475488" y="4626864"/>
          <a:ext cx="676656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7589520" y="1664208"/>
            <a:ext cx="4023360" cy="1975104"/>
          </a:xfrm>
          <a:prstGeom prst="roundRect">
            <a:avLst>
              <a:gd name="adj" fmla="val 2778"/>
            </a:avLst>
          </a:prstGeom>
          <a:solidFill>
            <a:srgbClr val="FFF3F4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827264" y="18288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D4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BY BAND</a:t>
            </a:r>
            <a:endParaRPr lang="en-US" sz="950" dirty="0"/>
          </a:p>
        </p:txBody>
      </p:sp>
      <p:sp>
        <p:nvSpPr>
          <p:cNvPr id="10" name="Text 6"/>
          <p:cNvSpPr txBox="1"/>
          <p:nvPr/>
        </p:nvSpPr>
        <p:spPr>
          <a:xfrm>
            <a:off x="7827264" y="2176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 &lt;₹1K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9784080" y="2176272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₹3,373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827264" y="26151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 ₹1–2K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9784080" y="261518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₹6,875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827264" y="30540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 ₹2K+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9784080" y="3054096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D4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₹11,089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589520" y="387705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8A8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SHOW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7589520" y="4215384"/>
            <a:ext cx="310896" cy="310896"/>
          </a:xfrm>
          <a:prstGeom prst="ellipse">
            <a:avLst/>
          </a:prstGeom>
          <a:solidFill>
            <a:srgbClr val="D41B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589520" y="4215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8046720" y="41696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drives the majority of revenue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8046720" y="443484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above ₹2,000 return 57.7% of sales from 41.2% of transactions, at ₹11,089 per basket.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7589520" y="5020056"/>
            <a:ext cx="310896" cy="310896"/>
          </a:xfrm>
          <a:prstGeom prst="ellipse">
            <a:avLst/>
          </a:prstGeom>
          <a:solidFill>
            <a:srgbClr val="D41B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589520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8046720" y="49743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entry band is volume without value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8046720" y="5239512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Sub-₹1,000 items are 19.6% of transactions but only 8.3% of revenue.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7589520" y="5696712"/>
            <a:ext cx="310896" cy="310896"/>
          </a:xfrm>
          <a:prstGeom prst="ellipse">
            <a:avLst/>
          </a:prstGeom>
          <a:solidFill>
            <a:srgbClr val="D41B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7589520" y="5696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8046720" y="56509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depth is consistent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8046720" y="591616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4.52 units per transaction, spread evenly from 1 to 8 units.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— region and store format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contribution and how store characteristics relate to sales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642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by state (₹ lakh)</a:t>
            </a:r>
            <a:endParaRPr lang="en-US" sz="13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75488" y="1956816"/>
          <a:ext cx="55778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8463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8A8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CITIES BY SALES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5138928"/>
            <a:ext cx="129844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58368" y="526694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₹17.2 L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555955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Jalna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975104" y="5138928"/>
            <a:ext cx="129844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2084832" y="526694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₹17.0 L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084832" y="555955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Mysuru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401568" y="5138928"/>
            <a:ext cx="129844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3511296" y="526694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₹16.6 L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511296" y="555955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Jammu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828032" y="5138928"/>
            <a:ext cx="129844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937760" y="526694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₹16.5 L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555955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Kolkata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6492240" y="166420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8A8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FORMAT COMPARISON</a:t>
            </a:r>
            <a:endParaRPr lang="en-US" sz="9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956816"/>
          <a:ext cx="5120640" cy="279806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 attribute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1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order 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1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Rented stores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₹3.14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₹7,908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Owned stores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₹3.12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₹7,945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 (≤950 sq ft)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₹1.75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₹8,085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(1,000–1,200)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₹2.69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₹7,867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(1,300–1,400)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₹1.82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₹7,867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Parking available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₹3.17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₹8,048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parking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₹3.10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₹7,806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Longest hours (9–8)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₹1.61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₹8,179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1" name="Text 17"/>
          <p:cNvSpPr txBox="1"/>
          <p:nvPr/>
        </p:nvSpPr>
        <p:spPr>
          <a:xfrm>
            <a:off x="6492240" y="495604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8A8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SHOW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492240" y="5276088"/>
            <a:ext cx="310896" cy="310896"/>
          </a:xfrm>
          <a:prstGeom prst="ellipse">
            <a:avLst/>
          </a:prstGeom>
          <a:solidFill>
            <a:srgbClr val="D41B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492240" y="5276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6949440" y="52303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Bengal is the largest state market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6949440" y="5495544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₹81.1 L and 12.9% of sales; Karnataka is smallest at ₹75.9 L and 12.1%.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6492240" y="5934456"/>
            <a:ext cx="310896" cy="310896"/>
          </a:xfrm>
          <a:prstGeom prst="ellipse">
            <a:avLst/>
          </a:prstGeom>
          <a:solidFill>
            <a:srgbClr val="D41B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492240" y="5934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6949440" y="58887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stores post the highest basket value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6949440" y="6153912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of ₹8,085 against ₹7,867 for standard and large formats.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findings mean for the business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00784"/>
            <a:ext cx="3529584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938528"/>
            <a:ext cx="365760" cy="365760"/>
          </a:xfrm>
          <a:prstGeom prst="ellipse">
            <a:avLst/>
          </a:prstGeom>
          <a:solidFill>
            <a:srgbClr val="D41B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414016"/>
            <a:ext cx="3054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is built on premium price points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980944"/>
            <a:ext cx="3054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above ₹2,000 generate 57.7% of sales from 41.2% of transactions. Price tier, not category, is the strongest lever on revenue.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15968" y="1700784"/>
            <a:ext cx="3529584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53712" y="1938528"/>
            <a:ext cx="365760" cy="36576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53712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2414016"/>
            <a:ext cx="3054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is spread evenly across the range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2980944"/>
            <a:ext cx="3054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eleven clothing types contribute between 8.6% and 9.5% of sales. There is no dominant hero product and no obvious dead stock.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83296" y="1700784"/>
            <a:ext cx="3529584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1938528"/>
            <a:ext cx="365760" cy="36576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414016"/>
            <a:ext cx="3054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divisions are balanced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980944"/>
            <a:ext cx="3054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Kids, Women and Men each carry roughly a third of revenue, within 0.9pp of one another. No division carries the business alone.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529584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86384" y="4169664"/>
            <a:ext cx="365760" cy="36576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" y="4169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" y="4645152"/>
            <a:ext cx="3054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regional footprint is uniformly productive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" y="5212080"/>
            <a:ext cx="3054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eight states fall between 12.1% and 12.9% of sales, and the 42 cities between 1.9% and 2.8%. Coverage, not concentration, drives the geography.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15968" y="3931920"/>
            <a:ext cx="3529584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53712" y="4169664"/>
            <a:ext cx="365760" cy="365760"/>
          </a:xfrm>
          <a:prstGeom prst="ellipse">
            <a:avLst/>
          </a:prstGeom>
          <a:solidFill>
            <a:srgbClr val="4A3A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53712" y="4169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53712" y="4645152"/>
            <a:ext cx="3054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Bigger stores do not sell more per visit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53712" y="5212080"/>
            <a:ext cx="3054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stores post the highest average order value at ₹8,085, ahead of standard and large formats at ₹7,867.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83296" y="3931920"/>
            <a:ext cx="3529584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5E3DF"/>
            </a:solidFill>
            <a:prstDash val="solid"/>
          </a:ln>
          <a:effectLst>
            <a:outerShdw blurRad="76200" dist="12700" dir="5400000" algn="bl" rotWithShape="0">
              <a:srgbClr val="9A9894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21040" y="4169664"/>
            <a:ext cx="365760" cy="365760"/>
          </a:xfrm>
          <a:prstGeom prst="ellipse">
            <a:avLst/>
          </a:prstGeom>
          <a:solidFill>
            <a:srgbClr val="008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21040" y="4169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4645152"/>
            <a:ext cx="3054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 is stable month to month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5212080"/>
            <a:ext cx="3054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range from ₹54.3 L to ₹59.3 L with no seasonal peak, giving a dependable ₹56.4 L monthly planning base.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-1097280"/>
            <a:ext cx="3108960" cy="3108960"/>
          </a:xfrm>
          <a:prstGeom prst="ellipse">
            <a:avLst/>
          </a:prstGeom>
          <a:solidFill>
            <a:srgbClr val="7C0D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02336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actions, each tied to a finding in this analysis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73936"/>
            <a:ext cx="384048" cy="384048"/>
          </a:xfrm>
          <a:prstGeom prst="ellipse">
            <a:avLst/>
          </a:prstGeom>
          <a:solidFill>
            <a:srgbClr val="D41B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737360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range around premium price points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86000"/>
            <a:ext cx="47548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4C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items return ₹11,089 per basket against ₹3,373 in the entry band. Expand depth in the ₹2,000+ tier and use sub-₹1,000 lines to drive footfall, not revenue.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773936"/>
            <a:ext cx="384048" cy="384048"/>
          </a:xfrm>
          <a:prstGeom prst="ellipse">
            <a:avLst/>
          </a:prstGeom>
          <a:solidFill>
            <a:srgbClr val="D41B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1737360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 full assortment breadth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2286000"/>
            <a:ext cx="47548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4C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eleven clothing types contribute 8.6–9.5% of sales. No line is weak enough to delist; protect breadth and let price tier do the work.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346704"/>
            <a:ext cx="384048" cy="384048"/>
          </a:xfrm>
          <a:prstGeom prst="ellipse">
            <a:avLst/>
          </a:prstGeom>
          <a:solidFill>
            <a:srgbClr val="D41B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310128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Spread regional investment across the footprint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858768"/>
            <a:ext cx="47548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4C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contribution runs 12.1–12.9%. Allocate inventory and new stores by city coverage rather than by a state league table.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09360" y="3346704"/>
            <a:ext cx="384048" cy="384048"/>
          </a:xfrm>
          <a:prstGeom prst="ellipse">
            <a:avLst/>
          </a:prstGeom>
          <a:solidFill>
            <a:srgbClr val="D41B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9360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3310128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Favour compact and standard formats for new sites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3858768"/>
            <a:ext cx="47548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4C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stores return the highest average order value at ₹8,085 while costing less floor area than large formats at ₹7,867.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919472"/>
            <a:ext cx="384048" cy="384048"/>
          </a:xfrm>
          <a:prstGeom prst="ellipse">
            <a:avLst/>
          </a:prstGeom>
          <a:solidFill>
            <a:srgbClr val="D41B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919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882896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to a flat monthly run-rate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5431536"/>
            <a:ext cx="47548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4C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hold between ₹54.3 L and ₹59.3 L all year. Build inventory to a steady ₹56.4 L base rather than to a seasonal peak.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09360" y="4919472"/>
            <a:ext cx="384048" cy="384048"/>
          </a:xfrm>
          <a:prstGeom prst="ellipse">
            <a:avLst/>
          </a:prstGeom>
          <a:solidFill>
            <a:srgbClr val="D41B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09360" y="4919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4882896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 item-level cost data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0" y="5431536"/>
            <a:ext cx="47548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4C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is recorded as a flat 40% on every line, so profitability cannot be compared between products. A per-item cost field would let the existing dashboard answer it immediately.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2010</Words>
  <Application>Microsoft Office PowerPoint</Application>
  <PresentationFormat>Widescreen</PresentationFormat>
  <Paragraphs>332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Zudio Product Performance and Profitability — Analysis Findings</dc:title>
  <dc:subject>PptxGenJS Presentation</dc:subject>
  <dc:creator>Madhav Kumar</dc:creator>
  <cp:lastModifiedBy>Madhav Kumar</cp:lastModifiedBy>
  <cp:revision>3</cp:revision>
  <dcterms:created xsi:type="dcterms:W3CDTF">2026-08-29T06:07:43Z</dcterms:created>
  <dcterms:modified xsi:type="dcterms:W3CDTF">2026-08-29T07:56:38Z</dcterms:modified>
</cp:coreProperties>
</file>